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7"/>
  </p:notes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Cronograma propuesto a partir de las actividades acordadas. Revisión conjunta de avances y pendientes en cada clase.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En cada clase: revisar avances, resolver dificultades de integración y registrar pendientes.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En cada clase: revisar avances, resolver dificultades de integración y registrar pendientes.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En cada clase: revisar avances, resolver dificultades de integración y registrar pendientes. La credencial digital depende de la compatibilidad verificada en la clase anterior.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En cada clase: revisar avances, resolver dificultades de integración y registrar pendientes.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7283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ángulo 12">
            <a:extLst>
              <a:ext uri="{FF2B5EF4-FFF2-40B4-BE49-F238E27FC236}">
                <a16:creationId xmlns:a16="http://schemas.microsoft.com/office/drawing/2014/main" id="{46980F01-2DD1-44F9-BCFF-0943E18AB80E}"/>
              </a:ext>
            </a:extLst>
          </p:cNvPr>
          <p:cNvSpPr>
            <a:spLocks noGrp="1"/>
          </p:cNvSpPr>
          <p:nvPr/>
        </p:nvSpPr>
        <p:spPr>
          <a:xfrm>
            <a:off x="609600" y="457200"/>
            <a:ext cx="6667500" cy="3333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650" b="1">
                <a:solidFill>
                  <a:srgbClr val="60DDD2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650" b="1">
                <a:solidFill>
                  <a:srgbClr val="60DDD2"/>
                </a:solidFill>
                <a:latin typeface="Bitstream Charter"/>
                <a:ea typeface="Bitstream Charter"/>
                <a:cs typeface="Bitstream Charter"/>
              </a:rPr>
              <a:t>OCTUBRE 2026</a:t>
            </a:r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69C12903-C362-4944-A529-42A40F1B861D}"/>
              </a:ext>
            </a:extLst>
          </p:cNvPr>
          <p:cNvSpPr>
            <a:spLocks noGrp="1"/>
          </p:cNvSpPr>
          <p:nvPr/>
        </p:nvSpPr>
        <p:spPr>
          <a:xfrm>
            <a:off x="609600" y="1095375"/>
            <a:ext cx="10477500" cy="8096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4350" b="1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4350" b="1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rPr>
              <a:t>Cronograma de trabajo</a:t>
            </a:r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3A35BEB8-52EC-44F9-AF64-29EC6769AD63}"/>
              </a:ext>
            </a:extLst>
          </p:cNvPr>
          <p:cNvSpPr>
            <a:spLocks noGrp="1"/>
          </p:cNvSpPr>
          <p:nvPr/>
        </p:nvSpPr>
        <p:spPr>
          <a:xfrm>
            <a:off x="609600" y="2076450"/>
            <a:ext cx="10668000" cy="4762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325" b="0">
                <a:solidFill>
                  <a:srgbClr val="D6DFE6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325" b="0">
                <a:solidFill>
                  <a:srgbClr val="D6DFE6"/>
                </a:solidFill>
                <a:latin typeface="Bitstream Charter"/>
                <a:ea typeface="Bitstream Charter"/>
                <a:cs typeface="Bitstream Charter"/>
              </a:rPr>
              <a:t>Control de acceso y asistencia con NFC</a:t>
            </a:r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F4A0B0E7-B96E-488B-B918-27D52DFD4290}"/>
              </a:ext>
            </a:extLst>
          </p:cNvPr>
          <p:cNvSpPr>
            <a:spLocks noGrp="1"/>
          </p:cNvSpPr>
          <p:nvPr/>
        </p:nvSpPr>
        <p:spPr>
          <a:xfrm>
            <a:off x="609600" y="3276600"/>
            <a:ext cx="2333625" cy="1047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6375" b="1">
                <a:solidFill>
                  <a:srgbClr val="60DDD2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6375" b="1">
                <a:solidFill>
                  <a:srgbClr val="60DDD2"/>
                </a:solidFill>
                <a:latin typeface="Bitstream Charter"/>
                <a:ea typeface="Bitstream Charter"/>
                <a:cs typeface="Bitstream Charter"/>
              </a:rPr>
              <a:t>07</a:t>
            </a: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BD777B5C-FD80-4841-8969-30CF740482AA}"/>
              </a:ext>
            </a:extLst>
          </p:cNvPr>
          <p:cNvSpPr>
            <a:spLocks noGrp="1"/>
          </p:cNvSpPr>
          <p:nvPr/>
        </p:nvSpPr>
        <p:spPr>
          <a:xfrm>
            <a:off x="609600" y="4448175"/>
            <a:ext cx="2390775" cy="8572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025" b="1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025" b="1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rPr>
              <a:t>Requisitos y diseño</a:t>
            </a:r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D9D91D42-7755-4041-8593-789BE87D4D9E}"/>
              </a:ext>
            </a:extLst>
          </p:cNvPr>
          <p:cNvSpPr>
            <a:spLocks noGrp="1"/>
          </p:cNvSpPr>
          <p:nvPr/>
        </p:nvSpPr>
        <p:spPr>
          <a:xfrm>
            <a:off x="3486150" y="3276600"/>
            <a:ext cx="2333625" cy="1047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6375" b="1">
                <a:solidFill>
                  <a:srgbClr val="60DDD2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6375" b="1">
                <a:solidFill>
                  <a:srgbClr val="60DDD2"/>
                </a:solidFill>
                <a:latin typeface="Bitstream Charter"/>
                <a:ea typeface="Bitstream Charter"/>
                <a:cs typeface="Bitstream Charter"/>
              </a:rPr>
              <a:t>14</a:t>
            </a:r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F211BE82-396E-43D4-BB52-A367FFAE416E}"/>
              </a:ext>
            </a:extLst>
          </p:cNvPr>
          <p:cNvSpPr>
            <a:spLocks noGrp="1"/>
          </p:cNvSpPr>
          <p:nvPr/>
        </p:nvSpPr>
        <p:spPr>
          <a:xfrm>
            <a:off x="3486150" y="4448175"/>
            <a:ext cx="2390775" cy="8572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025" b="1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025" b="1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rPr>
              <a:t>Desarrollo inicial</a:t>
            </a:r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4336D4E4-931A-405C-BE56-2BF163C69784}"/>
              </a:ext>
            </a:extLst>
          </p:cNvPr>
          <p:cNvSpPr>
            <a:spLocks noGrp="1"/>
          </p:cNvSpPr>
          <p:nvPr/>
        </p:nvSpPr>
        <p:spPr>
          <a:xfrm>
            <a:off x="6362700" y="3276600"/>
            <a:ext cx="2333625" cy="1047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6375" b="1">
                <a:solidFill>
                  <a:srgbClr val="60DDD2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6375" b="1">
                <a:solidFill>
                  <a:srgbClr val="60DDD2"/>
                </a:solidFill>
                <a:latin typeface="Bitstream Charter"/>
                <a:ea typeface="Bitstream Charter"/>
                <a:cs typeface="Bitstream Charter"/>
              </a:rPr>
              <a:t>21</a:t>
            </a:r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EFACCFCF-9A07-410C-88CD-BAE4AAB030DF}"/>
              </a:ext>
            </a:extLst>
          </p:cNvPr>
          <p:cNvSpPr>
            <a:spLocks noGrp="1"/>
          </p:cNvSpPr>
          <p:nvPr/>
        </p:nvSpPr>
        <p:spPr>
          <a:xfrm>
            <a:off x="6362700" y="4448175"/>
            <a:ext cx="2390775" cy="8572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025" b="1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025" b="1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rPr>
              <a:t>Integración</a:t>
            </a:r>
          </a:p>
        </p:txBody>
      </p:sp>
      <p:sp>
        <p:nvSpPr>
          <p:cNvPr id="10" name="Rectángulo 9">
            <a:extLst>
              <a:ext uri="{FF2B5EF4-FFF2-40B4-BE49-F238E27FC236}">
                <a16:creationId xmlns:a16="http://schemas.microsoft.com/office/drawing/2014/main" id="{A19470DA-E1C3-4E47-973B-348F5734B3B2}"/>
              </a:ext>
            </a:extLst>
          </p:cNvPr>
          <p:cNvSpPr>
            <a:spLocks noGrp="1"/>
          </p:cNvSpPr>
          <p:nvPr/>
        </p:nvSpPr>
        <p:spPr>
          <a:xfrm>
            <a:off x="9239250" y="3276600"/>
            <a:ext cx="2333625" cy="1047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6375" b="1">
                <a:solidFill>
                  <a:srgbClr val="60DDD2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6375" b="1">
                <a:solidFill>
                  <a:srgbClr val="60DDD2"/>
                </a:solidFill>
                <a:latin typeface="Bitstream Charter"/>
                <a:ea typeface="Bitstream Charter"/>
                <a:cs typeface="Bitstream Charter"/>
              </a:rPr>
              <a:t>28</a:t>
            </a:r>
          </a:p>
        </p:txBody>
      </p:sp>
      <p:sp>
        <p:nvSpPr>
          <p:cNvPr id="11" name="Rectángulo 10">
            <a:extLst>
              <a:ext uri="{FF2B5EF4-FFF2-40B4-BE49-F238E27FC236}">
                <a16:creationId xmlns:a16="http://schemas.microsoft.com/office/drawing/2014/main" id="{4AB68E1D-E703-40EB-94CA-367FCDC82A20}"/>
              </a:ext>
            </a:extLst>
          </p:cNvPr>
          <p:cNvSpPr>
            <a:spLocks noGrp="1"/>
          </p:cNvSpPr>
          <p:nvPr/>
        </p:nvSpPr>
        <p:spPr>
          <a:xfrm>
            <a:off x="9239250" y="4448175"/>
            <a:ext cx="2390775" cy="8572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025" b="1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025" b="1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rPr>
              <a:t>Pruebas y presentación</a:t>
            </a:r>
          </a:p>
        </p:txBody>
      </p:sp>
      <p:sp>
        <p:nvSpPr>
          <p:cNvPr id="12" name="Rectángulo 11">
            <a:extLst>
              <a:ext uri="{FF2B5EF4-FFF2-40B4-BE49-F238E27FC236}">
                <a16:creationId xmlns:a16="http://schemas.microsoft.com/office/drawing/2014/main" id="{6971631A-15D7-43BB-986E-9A80C54ED38B}"/>
              </a:ext>
            </a:extLst>
          </p:cNvPr>
          <p:cNvSpPr>
            <a:spLocks noGrp="1"/>
          </p:cNvSpPr>
          <p:nvPr/>
        </p:nvSpPr>
        <p:spPr>
          <a:xfrm>
            <a:off x="609600" y="5829300"/>
            <a:ext cx="10858500" cy="3714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725" b="0">
                <a:solidFill>
                  <a:srgbClr val="D6DFE6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725" b="0">
                <a:solidFill>
                  <a:srgbClr val="D6DFE6"/>
                </a:solidFill>
                <a:latin typeface="Bitstream Charter"/>
                <a:ea typeface="Bitstream Charter"/>
                <a:cs typeface="Bitstream Charter"/>
              </a:rPr>
              <a:t>Diego / Frontend     Sofía / Backend     Julio / Liderazgo, IoT y BD</a:t>
            </a:r>
          </a:p>
        </p:txBody>
      </p:sp>
    </p:spTree>
    <p:extLst>
      <p:ext uri="{BB962C8B-B14F-4D97-AF65-F5344CB8AC3E}">
        <p14:creationId xmlns:p14="http://schemas.microsoft.com/office/powerpoint/2010/main" val="63725163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3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ángulo 18">
            <a:extLst>
              <a:ext uri="{FF2B5EF4-FFF2-40B4-BE49-F238E27FC236}">
                <a16:creationId xmlns:a16="http://schemas.microsoft.com/office/drawing/2014/main" id="{6EF22350-7892-486E-A4F2-7BA7A6C77715}"/>
              </a:ext>
            </a:extLst>
          </p:cNvPr>
          <p:cNvSpPr>
            <a:spLocks noGrp="1"/>
          </p:cNvSpPr>
          <p:nvPr/>
        </p:nvSpPr>
        <p:spPr>
          <a:xfrm>
            <a:off x="552450" y="333375"/>
            <a:ext cx="1571625" cy="11811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6900" b="1">
                <a:solidFill>
                  <a:srgbClr val="087F80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6900" b="1">
                <a:solidFill>
                  <a:srgbClr val="087F80"/>
                </a:solidFill>
                <a:latin typeface="Bitstream Charter"/>
                <a:ea typeface="Bitstream Charter"/>
                <a:cs typeface="Bitstream Charter"/>
              </a:rPr>
              <a:t>07</a:t>
            </a:r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FD8938D0-572B-4EA7-8DB7-58663AD169CF}"/>
              </a:ext>
            </a:extLst>
          </p:cNvPr>
          <p:cNvSpPr>
            <a:spLocks noGrp="1"/>
          </p:cNvSpPr>
          <p:nvPr/>
        </p:nvSpPr>
        <p:spPr>
          <a:xfrm>
            <a:off x="2190750" y="476250"/>
            <a:ext cx="6191250" cy="3143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575" b="1">
                <a:solidFill>
                  <a:srgbClr val="596677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575" b="1">
                <a:solidFill>
                  <a:srgbClr val="596677"/>
                </a:solidFill>
                <a:latin typeface="Bitstream Charter"/>
                <a:ea typeface="Bitstream Charter"/>
                <a:cs typeface="Bitstream Charter"/>
              </a:rPr>
              <a:t>OCTUBRE 2026</a:t>
            </a:r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F42ADE70-2775-438E-8AA2-6553EADE369A}"/>
              </a:ext>
            </a:extLst>
          </p:cNvPr>
          <p:cNvSpPr>
            <a:spLocks noGrp="1"/>
          </p:cNvSpPr>
          <p:nvPr/>
        </p:nvSpPr>
        <p:spPr>
          <a:xfrm>
            <a:off x="2190750" y="876300"/>
            <a:ext cx="9334500" cy="6381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3225" b="1">
                <a:solidFill>
                  <a:srgbClr val="17283C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3225" b="1">
                <a:solidFill>
                  <a:srgbClr val="17283C"/>
                </a:solidFill>
                <a:latin typeface="Bitstream Charter"/>
                <a:ea typeface="Bitstream Charter"/>
                <a:cs typeface="Bitstream Charter"/>
              </a:rPr>
              <a:t>Requisitos y diseño</a:t>
            </a:r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F944F30C-3E04-4732-A02C-A8546BB46F48}"/>
              </a:ext>
            </a:extLst>
          </p:cNvPr>
          <p:cNvSpPr>
            <a:spLocks noGrp="1"/>
          </p:cNvSpPr>
          <p:nvPr/>
        </p:nvSpPr>
        <p:spPr>
          <a:xfrm>
            <a:off x="609600" y="2019300"/>
            <a:ext cx="3390900" cy="4572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550" b="1">
                <a:solidFill>
                  <a:srgbClr val="087F80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550" b="1">
                <a:solidFill>
                  <a:srgbClr val="087F80"/>
                </a:solidFill>
                <a:latin typeface="Bitstream Charter"/>
                <a:ea typeface="Bitstream Charter"/>
                <a:cs typeface="Bitstream Charter"/>
              </a:rPr>
              <a:t>Diego</a:t>
            </a: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87A962CE-4037-4ADB-9585-6D584E8542CB}"/>
              </a:ext>
            </a:extLst>
          </p:cNvPr>
          <p:cNvSpPr>
            <a:spLocks noGrp="1"/>
          </p:cNvSpPr>
          <p:nvPr/>
        </p:nvSpPr>
        <p:spPr>
          <a:xfrm>
            <a:off x="609600" y="2524125"/>
            <a:ext cx="3390900" cy="3143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575" b="0">
                <a:solidFill>
                  <a:srgbClr val="596677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575" b="0">
                <a:solidFill>
                  <a:srgbClr val="596677"/>
                </a:solidFill>
                <a:latin typeface="Bitstream Charter"/>
                <a:ea typeface="Bitstream Charter"/>
                <a:cs typeface="Bitstream Charter"/>
              </a:rPr>
              <a:t>Frontend</a:t>
            </a:r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EBBE5C52-7882-4960-8AEB-123745EC47D4}"/>
              </a:ext>
            </a:extLst>
          </p:cNvPr>
          <p:cNvSpPr>
            <a:spLocks noGrp="1"/>
          </p:cNvSpPr>
          <p:nvPr/>
        </p:nvSpPr>
        <p:spPr>
          <a:xfrm>
            <a:off x="609600" y="3143250"/>
            <a:ext cx="3324225" cy="8382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800" b="0">
                <a:solidFill>
                  <a:srgbClr val="17283C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800" b="0">
                <a:solidFill>
                  <a:srgbClr val="17283C"/>
                </a:solidFill>
                <a:latin typeface="Bitstream Charter"/>
                <a:ea typeface="Bitstream Charter"/>
                <a:cs typeface="Bitstream Charter"/>
              </a:rPr>
              <a:t>Definir recorridos del empleado y del administrador.</a:t>
            </a:r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3D542C33-0B84-4D71-9EC8-F53703F3F041}"/>
              </a:ext>
            </a:extLst>
          </p:cNvPr>
          <p:cNvSpPr>
            <a:spLocks noGrp="1"/>
          </p:cNvSpPr>
          <p:nvPr/>
        </p:nvSpPr>
        <p:spPr>
          <a:xfrm>
            <a:off x="609600" y="4000500"/>
            <a:ext cx="3324225" cy="8382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800" b="0">
                <a:solidFill>
                  <a:srgbClr val="17283C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800" b="0">
                <a:solidFill>
                  <a:srgbClr val="17283C"/>
                </a:solidFill>
                <a:latin typeface="Bitstream Charter"/>
                <a:ea typeface="Bitstream Charter"/>
                <a:cs typeface="Bitstream Charter"/>
              </a:rPr>
              <a:t>Diseñar bocetos del portal web y la aplicación móvil.</a:t>
            </a:r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A072FAE7-B030-4742-91B7-BEF7609FDCE4}"/>
              </a:ext>
            </a:extLst>
          </p:cNvPr>
          <p:cNvSpPr>
            <a:spLocks noGrp="1"/>
          </p:cNvSpPr>
          <p:nvPr/>
        </p:nvSpPr>
        <p:spPr>
          <a:xfrm>
            <a:off x="4400550" y="2019300"/>
            <a:ext cx="3390900" cy="4572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550" b="1">
                <a:solidFill>
                  <a:srgbClr val="7456A6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550" b="1">
                <a:solidFill>
                  <a:srgbClr val="7456A6"/>
                </a:solidFill>
                <a:latin typeface="Bitstream Charter"/>
                <a:ea typeface="Bitstream Charter"/>
                <a:cs typeface="Bitstream Charter"/>
              </a:rPr>
              <a:t>Sofía</a:t>
            </a:r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D9823C10-723F-48F8-AD9C-3839FF86A45C}"/>
              </a:ext>
            </a:extLst>
          </p:cNvPr>
          <p:cNvSpPr>
            <a:spLocks noGrp="1"/>
          </p:cNvSpPr>
          <p:nvPr/>
        </p:nvSpPr>
        <p:spPr>
          <a:xfrm>
            <a:off x="4400550" y="2524125"/>
            <a:ext cx="3390900" cy="3143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575" b="0">
                <a:solidFill>
                  <a:srgbClr val="596677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575" b="0">
                <a:solidFill>
                  <a:srgbClr val="596677"/>
                </a:solidFill>
                <a:latin typeface="Bitstream Charter"/>
                <a:ea typeface="Bitstream Charter"/>
                <a:cs typeface="Bitstream Charter"/>
              </a:rPr>
              <a:t>Backend</a:t>
            </a:r>
          </a:p>
        </p:txBody>
      </p:sp>
      <p:sp>
        <p:nvSpPr>
          <p:cNvPr id="10" name="Rectángulo 9">
            <a:extLst>
              <a:ext uri="{FF2B5EF4-FFF2-40B4-BE49-F238E27FC236}">
                <a16:creationId xmlns:a16="http://schemas.microsoft.com/office/drawing/2014/main" id="{1839B2A4-0502-4A39-82F3-B04ECCDAFC3E}"/>
              </a:ext>
            </a:extLst>
          </p:cNvPr>
          <p:cNvSpPr>
            <a:spLocks noGrp="1"/>
          </p:cNvSpPr>
          <p:nvPr/>
        </p:nvSpPr>
        <p:spPr>
          <a:xfrm>
            <a:off x="4400550" y="3143250"/>
            <a:ext cx="3324225" cy="8382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800" b="0">
                <a:solidFill>
                  <a:srgbClr val="17283C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800" b="0">
                <a:solidFill>
                  <a:srgbClr val="17283C"/>
                </a:solidFill>
                <a:latin typeface="Bitstream Charter"/>
                <a:ea typeface="Bitstream Charter"/>
                <a:cs typeface="Bitstream Charter"/>
              </a:rPr>
              <a:t>Definir servicios de empleados, credenciales, permisos y marcaciones.</a:t>
            </a:r>
          </a:p>
        </p:txBody>
      </p:sp>
      <p:sp>
        <p:nvSpPr>
          <p:cNvPr id="11" name="Rectángulo 10">
            <a:extLst>
              <a:ext uri="{FF2B5EF4-FFF2-40B4-BE49-F238E27FC236}">
                <a16:creationId xmlns:a16="http://schemas.microsoft.com/office/drawing/2014/main" id="{AC45285E-D017-45A8-AFCE-060566702B93}"/>
              </a:ext>
            </a:extLst>
          </p:cNvPr>
          <p:cNvSpPr>
            <a:spLocks noGrp="1"/>
          </p:cNvSpPr>
          <p:nvPr/>
        </p:nvSpPr>
        <p:spPr>
          <a:xfrm>
            <a:off x="4400550" y="4000500"/>
            <a:ext cx="3324225" cy="8382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800" b="0">
                <a:solidFill>
                  <a:srgbClr val="17283C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800" b="0">
                <a:solidFill>
                  <a:srgbClr val="17283C"/>
                </a:solidFill>
                <a:latin typeface="Bitstream Charter"/>
                <a:ea typeface="Bitstream Charter"/>
                <a:cs typeface="Bitstream Charter"/>
              </a:rPr>
              <a:t>Acordar solicitudes y respuestas de la API.</a:t>
            </a:r>
          </a:p>
        </p:txBody>
      </p:sp>
      <p:sp>
        <p:nvSpPr>
          <p:cNvPr id="12" name="Rectángulo 11">
            <a:extLst>
              <a:ext uri="{FF2B5EF4-FFF2-40B4-BE49-F238E27FC236}">
                <a16:creationId xmlns:a16="http://schemas.microsoft.com/office/drawing/2014/main" id="{F7A6FFDC-EE4C-4970-A6CE-4A39AEB261F4}"/>
              </a:ext>
            </a:extLst>
          </p:cNvPr>
          <p:cNvSpPr>
            <a:spLocks noGrp="1"/>
          </p:cNvSpPr>
          <p:nvPr/>
        </p:nvSpPr>
        <p:spPr>
          <a:xfrm>
            <a:off x="8191500" y="2019300"/>
            <a:ext cx="3390900" cy="4572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550" b="1">
                <a:solidFill>
                  <a:srgbClr val="2A64A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550" b="1">
                <a:solidFill>
                  <a:srgbClr val="2A64AF"/>
                </a:solidFill>
                <a:latin typeface="Bitstream Charter"/>
                <a:ea typeface="Bitstream Charter"/>
                <a:cs typeface="Bitstream Charter"/>
              </a:rPr>
              <a:t>Julio</a:t>
            </a:r>
          </a:p>
        </p:txBody>
      </p:sp>
      <p:sp>
        <p:nvSpPr>
          <p:cNvPr id="13" name="Rectángulo 12">
            <a:extLst>
              <a:ext uri="{FF2B5EF4-FFF2-40B4-BE49-F238E27FC236}">
                <a16:creationId xmlns:a16="http://schemas.microsoft.com/office/drawing/2014/main" id="{838D1A4C-BAD6-4382-84BC-3E2C35D7E021}"/>
              </a:ext>
            </a:extLst>
          </p:cNvPr>
          <p:cNvSpPr>
            <a:spLocks noGrp="1"/>
          </p:cNvSpPr>
          <p:nvPr/>
        </p:nvSpPr>
        <p:spPr>
          <a:xfrm>
            <a:off x="8191500" y="2524125"/>
            <a:ext cx="3390900" cy="3143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575" b="0">
                <a:solidFill>
                  <a:srgbClr val="596677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575" b="0">
                <a:solidFill>
                  <a:srgbClr val="596677"/>
                </a:solidFill>
                <a:latin typeface="Bitstream Charter"/>
                <a:ea typeface="Bitstream Charter"/>
                <a:cs typeface="Bitstream Charter"/>
              </a:rPr>
              <a:t>Liderazgo, IoT y BD</a:t>
            </a:r>
          </a:p>
        </p:txBody>
      </p:sp>
      <p:sp>
        <p:nvSpPr>
          <p:cNvPr id="14" name="Rectángulo 13">
            <a:extLst>
              <a:ext uri="{FF2B5EF4-FFF2-40B4-BE49-F238E27FC236}">
                <a16:creationId xmlns:a16="http://schemas.microsoft.com/office/drawing/2014/main" id="{A7F1D0EC-A4E5-46C5-A9CB-3459CF61BB67}"/>
              </a:ext>
            </a:extLst>
          </p:cNvPr>
          <p:cNvSpPr>
            <a:spLocks noGrp="1"/>
          </p:cNvSpPr>
          <p:nvPr/>
        </p:nvSpPr>
        <p:spPr>
          <a:xfrm>
            <a:off x="8191500" y="3143250"/>
            <a:ext cx="3324225" cy="8382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800" b="0">
                <a:solidFill>
                  <a:srgbClr val="17283C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800" b="0">
                <a:solidFill>
                  <a:srgbClr val="17283C"/>
                </a:solidFill>
                <a:latin typeface="Bitstream Charter"/>
                <a:ea typeface="Bitstream Charter"/>
                <a:cs typeface="Bitstream Charter"/>
              </a:rPr>
              <a:t>Coordinar la revisión de necesidades.</a:t>
            </a:r>
          </a:p>
        </p:txBody>
      </p:sp>
      <p:sp>
        <p:nvSpPr>
          <p:cNvPr id="15" name="Rectángulo 14">
            <a:extLst>
              <a:ext uri="{FF2B5EF4-FFF2-40B4-BE49-F238E27FC236}">
                <a16:creationId xmlns:a16="http://schemas.microsoft.com/office/drawing/2014/main" id="{BAA82E38-2BCA-418D-AB61-C424915D7FD0}"/>
              </a:ext>
            </a:extLst>
          </p:cNvPr>
          <p:cNvSpPr>
            <a:spLocks noGrp="1"/>
          </p:cNvSpPr>
          <p:nvPr/>
        </p:nvSpPr>
        <p:spPr>
          <a:xfrm>
            <a:off x="8191500" y="4000500"/>
            <a:ext cx="3324225" cy="8382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800" b="0">
                <a:solidFill>
                  <a:srgbClr val="17283C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800" b="0">
                <a:solidFill>
                  <a:srgbClr val="17283C"/>
                </a:solidFill>
                <a:latin typeface="Bitstream Charter"/>
                <a:ea typeface="Bitstream Charter"/>
                <a:cs typeface="Bitstream Charter"/>
              </a:rPr>
              <a:t>Diseñar la BD y las reglas de acceso.</a:t>
            </a:r>
          </a:p>
        </p:txBody>
      </p:sp>
      <p:sp>
        <p:nvSpPr>
          <p:cNvPr id="16" name="Rectángulo 15">
            <a:extLst>
              <a:ext uri="{FF2B5EF4-FFF2-40B4-BE49-F238E27FC236}">
                <a16:creationId xmlns:a16="http://schemas.microsoft.com/office/drawing/2014/main" id="{55844A43-7E18-43BA-A773-A68F96853E69}"/>
              </a:ext>
            </a:extLst>
          </p:cNvPr>
          <p:cNvSpPr>
            <a:spLocks noGrp="1"/>
          </p:cNvSpPr>
          <p:nvPr/>
        </p:nvSpPr>
        <p:spPr>
          <a:xfrm>
            <a:off x="8191500" y="4857750"/>
            <a:ext cx="3324225" cy="8382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800" b="0">
                <a:solidFill>
                  <a:srgbClr val="17283C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800" b="0">
                <a:solidFill>
                  <a:srgbClr val="17283C"/>
                </a:solidFill>
                <a:latin typeface="Bitstream Charter"/>
                <a:ea typeface="Bitstream Charter"/>
                <a:cs typeface="Bitstream Charter"/>
              </a:rPr>
              <a:t>Comprobar ESP32 y lector NFC.</a:t>
            </a:r>
          </a:p>
        </p:txBody>
      </p:sp>
      <p:sp>
        <p:nvSpPr>
          <p:cNvPr id="17" name="Rectángulo 16">
            <a:extLst>
              <a:ext uri="{FF2B5EF4-FFF2-40B4-BE49-F238E27FC236}">
                <a16:creationId xmlns:a16="http://schemas.microsoft.com/office/drawing/2014/main" id="{92CABA72-60CC-4825-B409-E8F977ED9B65}"/>
              </a:ext>
            </a:extLst>
          </p:cNvPr>
          <p:cNvSpPr>
            <a:spLocks noGrp="1"/>
          </p:cNvSpPr>
          <p:nvPr/>
        </p:nvSpPr>
        <p:spPr>
          <a:xfrm>
            <a:off x="609600" y="5648325"/>
            <a:ext cx="10001250" cy="2667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425" b="1">
                <a:solidFill>
                  <a:srgbClr val="087F80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425" b="1">
                <a:solidFill>
                  <a:srgbClr val="087F80"/>
                </a:solidFill>
                <a:latin typeface="Bitstream Charter"/>
                <a:ea typeface="Bitstream Charter"/>
                <a:cs typeface="Bitstream Charter"/>
              </a:rPr>
              <a:t>RESULTADO DE LA CLASE</a:t>
            </a:r>
          </a:p>
        </p:txBody>
      </p:sp>
      <p:sp>
        <p:nvSpPr>
          <p:cNvPr id="18" name="Rectángulo 17">
            <a:extLst>
              <a:ext uri="{FF2B5EF4-FFF2-40B4-BE49-F238E27FC236}">
                <a16:creationId xmlns:a16="http://schemas.microsoft.com/office/drawing/2014/main" id="{CFB3B642-570A-4F59-80B5-AFD0FA6B844A}"/>
              </a:ext>
            </a:extLst>
          </p:cNvPr>
          <p:cNvSpPr>
            <a:spLocks noGrp="1"/>
          </p:cNvSpPr>
          <p:nvPr/>
        </p:nvSpPr>
        <p:spPr>
          <a:xfrm>
            <a:off x="609600" y="6038850"/>
            <a:ext cx="10915650" cy="5810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875" b="1">
                <a:solidFill>
                  <a:srgbClr val="17283C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875" b="1">
                <a:solidFill>
                  <a:srgbClr val="17283C"/>
                </a:solidFill>
                <a:latin typeface="Bitstream Charter"/>
                <a:ea typeface="Bitstream Charter"/>
                <a:cs typeface="Bitstream Charter"/>
              </a:rPr>
              <a:t>Alcance acordado, bocetos, modelo de datos y estructura de la API.</a:t>
            </a:r>
          </a:p>
        </p:txBody>
      </p:sp>
    </p:spTree>
    <p:extLst>
      <p:ext uri="{BB962C8B-B14F-4D97-AF65-F5344CB8AC3E}">
        <p14:creationId xmlns:p14="http://schemas.microsoft.com/office/powerpoint/2010/main" val="145921255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3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ángulo 20">
            <a:extLst>
              <a:ext uri="{FF2B5EF4-FFF2-40B4-BE49-F238E27FC236}">
                <a16:creationId xmlns:a16="http://schemas.microsoft.com/office/drawing/2014/main" id="{2D8696DD-E41D-41CC-A3A9-E58A1B903064}"/>
              </a:ext>
            </a:extLst>
          </p:cNvPr>
          <p:cNvSpPr>
            <a:spLocks noGrp="1"/>
          </p:cNvSpPr>
          <p:nvPr/>
        </p:nvSpPr>
        <p:spPr>
          <a:xfrm>
            <a:off x="552450" y="333375"/>
            <a:ext cx="1571625" cy="11811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6900" b="1">
                <a:solidFill>
                  <a:srgbClr val="087F80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6900" b="1">
                <a:solidFill>
                  <a:srgbClr val="087F80"/>
                </a:solidFill>
                <a:latin typeface="Bitstream Charter"/>
                <a:ea typeface="Bitstream Charter"/>
                <a:cs typeface="Bitstream Charter"/>
              </a:rPr>
              <a:t>14</a:t>
            </a:r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DF4E581C-5B49-4DE6-88D4-B58933321787}"/>
              </a:ext>
            </a:extLst>
          </p:cNvPr>
          <p:cNvSpPr>
            <a:spLocks noGrp="1"/>
          </p:cNvSpPr>
          <p:nvPr/>
        </p:nvSpPr>
        <p:spPr>
          <a:xfrm>
            <a:off x="2190750" y="476250"/>
            <a:ext cx="6191250" cy="3143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575" b="1">
                <a:solidFill>
                  <a:srgbClr val="596677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575" b="1">
                <a:solidFill>
                  <a:srgbClr val="596677"/>
                </a:solidFill>
                <a:latin typeface="Bitstream Charter"/>
                <a:ea typeface="Bitstream Charter"/>
                <a:cs typeface="Bitstream Charter"/>
              </a:rPr>
              <a:t>OCTUBRE 2026</a:t>
            </a:r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5006E2D0-B4C1-463A-BF2D-746EE1D98795}"/>
              </a:ext>
            </a:extLst>
          </p:cNvPr>
          <p:cNvSpPr>
            <a:spLocks noGrp="1"/>
          </p:cNvSpPr>
          <p:nvPr/>
        </p:nvSpPr>
        <p:spPr>
          <a:xfrm>
            <a:off x="2190750" y="876300"/>
            <a:ext cx="9334500" cy="6381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3225" b="1">
                <a:solidFill>
                  <a:srgbClr val="17283C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3225" b="1">
                <a:solidFill>
                  <a:srgbClr val="17283C"/>
                </a:solidFill>
                <a:latin typeface="Bitstream Charter"/>
                <a:ea typeface="Bitstream Charter"/>
                <a:cs typeface="Bitstream Charter"/>
              </a:rPr>
              <a:t>Desarrollo inicial</a:t>
            </a:r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8F723A76-E581-4E8A-8386-44CF29EA1213}"/>
              </a:ext>
            </a:extLst>
          </p:cNvPr>
          <p:cNvSpPr>
            <a:spLocks noGrp="1"/>
          </p:cNvSpPr>
          <p:nvPr/>
        </p:nvSpPr>
        <p:spPr>
          <a:xfrm>
            <a:off x="609600" y="2019300"/>
            <a:ext cx="3390900" cy="4572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550" b="1">
                <a:solidFill>
                  <a:srgbClr val="087F80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550" b="1">
                <a:solidFill>
                  <a:srgbClr val="087F80"/>
                </a:solidFill>
                <a:latin typeface="Bitstream Charter"/>
                <a:ea typeface="Bitstream Charter"/>
                <a:cs typeface="Bitstream Charter"/>
              </a:rPr>
              <a:t>Diego</a:t>
            </a: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AC29A6DF-4C41-4C1B-8846-0A86E4FE7DAE}"/>
              </a:ext>
            </a:extLst>
          </p:cNvPr>
          <p:cNvSpPr>
            <a:spLocks noGrp="1"/>
          </p:cNvSpPr>
          <p:nvPr/>
        </p:nvSpPr>
        <p:spPr>
          <a:xfrm>
            <a:off x="609600" y="2524125"/>
            <a:ext cx="3390900" cy="3143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575" b="0">
                <a:solidFill>
                  <a:srgbClr val="596677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575" b="0">
                <a:solidFill>
                  <a:srgbClr val="596677"/>
                </a:solidFill>
                <a:latin typeface="Bitstream Charter"/>
                <a:ea typeface="Bitstream Charter"/>
                <a:cs typeface="Bitstream Charter"/>
              </a:rPr>
              <a:t>Frontend</a:t>
            </a:r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10EB5316-A270-4FA4-9EF8-8E73F8364937}"/>
              </a:ext>
            </a:extLst>
          </p:cNvPr>
          <p:cNvSpPr>
            <a:spLocks noGrp="1"/>
          </p:cNvSpPr>
          <p:nvPr/>
        </p:nvSpPr>
        <p:spPr>
          <a:xfrm>
            <a:off x="609600" y="3143250"/>
            <a:ext cx="3324225" cy="8382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800" b="0">
                <a:solidFill>
                  <a:srgbClr val="17283C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800" b="0">
                <a:solidFill>
                  <a:srgbClr val="17283C"/>
                </a:solidFill>
                <a:latin typeface="Bitstream Charter"/>
                <a:ea typeface="Bitstream Charter"/>
                <a:cs typeface="Bitstream Charter"/>
              </a:rPr>
              <a:t>Crear pantallas de inicio de sesión, empleados y credenciales.</a:t>
            </a:r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15C5CE7C-2A26-4796-BB31-BA1204AA4FED}"/>
              </a:ext>
            </a:extLst>
          </p:cNvPr>
          <p:cNvSpPr>
            <a:spLocks noGrp="1"/>
          </p:cNvSpPr>
          <p:nvPr/>
        </p:nvSpPr>
        <p:spPr>
          <a:xfrm>
            <a:off x="609600" y="4000500"/>
            <a:ext cx="3324225" cy="8382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800" b="0">
                <a:solidFill>
                  <a:srgbClr val="17283C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800" b="0">
                <a:solidFill>
                  <a:srgbClr val="17283C"/>
                </a:solidFill>
                <a:latin typeface="Bitstream Charter"/>
                <a:ea typeface="Bitstream Charter"/>
                <a:cs typeface="Bitstream Charter"/>
              </a:rPr>
              <a:t>Preparar la navegación móvil.</a:t>
            </a:r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BBEE7ECE-A260-4345-AD7F-16D9E866F71C}"/>
              </a:ext>
            </a:extLst>
          </p:cNvPr>
          <p:cNvSpPr>
            <a:spLocks noGrp="1"/>
          </p:cNvSpPr>
          <p:nvPr/>
        </p:nvSpPr>
        <p:spPr>
          <a:xfrm>
            <a:off x="609600" y="4857750"/>
            <a:ext cx="3324225" cy="8382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800" b="0">
                <a:solidFill>
                  <a:srgbClr val="17283C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800" b="0">
                <a:solidFill>
                  <a:srgbClr val="17283C"/>
                </a:solidFill>
                <a:latin typeface="Bitstream Charter"/>
                <a:ea typeface="Bitstream Charter"/>
                <a:cs typeface="Bitstream Charter"/>
              </a:rPr>
              <a:t>Probar la credencial digital con Julio.</a:t>
            </a:r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ADC28F5F-795E-4572-B6DD-9D619FF6ADCF}"/>
              </a:ext>
            </a:extLst>
          </p:cNvPr>
          <p:cNvSpPr>
            <a:spLocks noGrp="1"/>
          </p:cNvSpPr>
          <p:nvPr/>
        </p:nvSpPr>
        <p:spPr>
          <a:xfrm>
            <a:off x="4400550" y="2019300"/>
            <a:ext cx="3390900" cy="4572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550" b="1">
                <a:solidFill>
                  <a:srgbClr val="7456A6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550" b="1">
                <a:solidFill>
                  <a:srgbClr val="7456A6"/>
                </a:solidFill>
                <a:latin typeface="Bitstream Charter"/>
                <a:ea typeface="Bitstream Charter"/>
                <a:cs typeface="Bitstream Charter"/>
              </a:rPr>
              <a:t>Sofía</a:t>
            </a:r>
          </a:p>
        </p:txBody>
      </p:sp>
      <p:sp>
        <p:nvSpPr>
          <p:cNvPr id="10" name="Rectángulo 9">
            <a:extLst>
              <a:ext uri="{FF2B5EF4-FFF2-40B4-BE49-F238E27FC236}">
                <a16:creationId xmlns:a16="http://schemas.microsoft.com/office/drawing/2014/main" id="{1D6A92AA-1052-40AF-984A-AE24D0662201}"/>
              </a:ext>
            </a:extLst>
          </p:cNvPr>
          <p:cNvSpPr>
            <a:spLocks noGrp="1"/>
          </p:cNvSpPr>
          <p:nvPr/>
        </p:nvSpPr>
        <p:spPr>
          <a:xfrm>
            <a:off x="4400550" y="2524125"/>
            <a:ext cx="3390900" cy="3143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575" b="0">
                <a:solidFill>
                  <a:srgbClr val="596677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575" b="0">
                <a:solidFill>
                  <a:srgbClr val="596677"/>
                </a:solidFill>
                <a:latin typeface="Bitstream Charter"/>
                <a:ea typeface="Bitstream Charter"/>
                <a:cs typeface="Bitstream Charter"/>
              </a:rPr>
              <a:t>Backend</a:t>
            </a:r>
          </a:p>
        </p:txBody>
      </p:sp>
      <p:sp>
        <p:nvSpPr>
          <p:cNvPr id="11" name="Rectángulo 10">
            <a:extLst>
              <a:ext uri="{FF2B5EF4-FFF2-40B4-BE49-F238E27FC236}">
                <a16:creationId xmlns:a16="http://schemas.microsoft.com/office/drawing/2014/main" id="{30864B39-74C5-4832-B497-C2FE57036772}"/>
              </a:ext>
            </a:extLst>
          </p:cNvPr>
          <p:cNvSpPr>
            <a:spLocks noGrp="1"/>
          </p:cNvSpPr>
          <p:nvPr/>
        </p:nvSpPr>
        <p:spPr>
          <a:xfrm>
            <a:off x="4400550" y="3143250"/>
            <a:ext cx="3324225" cy="8382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800" b="0">
                <a:solidFill>
                  <a:srgbClr val="17283C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800" b="0">
                <a:solidFill>
                  <a:srgbClr val="17283C"/>
                </a:solidFill>
                <a:latin typeface="Bitstream Charter"/>
                <a:ea typeface="Bitstream Charter"/>
                <a:cs typeface="Bitstream Charter"/>
              </a:rPr>
              <a:t>Implementar autenticación.</a:t>
            </a:r>
          </a:p>
        </p:txBody>
      </p:sp>
      <p:sp>
        <p:nvSpPr>
          <p:cNvPr id="12" name="Rectángulo 11">
            <a:extLst>
              <a:ext uri="{FF2B5EF4-FFF2-40B4-BE49-F238E27FC236}">
                <a16:creationId xmlns:a16="http://schemas.microsoft.com/office/drawing/2014/main" id="{05E896F0-A7F6-4B07-B8E3-9BC67CC61357}"/>
              </a:ext>
            </a:extLst>
          </p:cNvPr>
          <p:cNvSpPr>
            <a:spLocks noGrp="1"/>
          </p:cNvSpPr>
          <p:nvPr/>
        </p:nvSpPr>
        <p:spPr>
          <a:xfrm>
            <a:off x="4400550" y="4000500"/>
            <a:ext cx="3324225" cy="8382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800" b="0">
                <a:solidFill>
                  <a:srgbClr val="17283C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800" b="0">
                <a:solidFill>
                  <a:srgbClr val="17283C"/>
                </a:solidFill>
                <a:latin typeface="Bitstream Charter"/>
                <a:ea typeface="Bitstream Charter"/>
                <a:cs typeface="Bitstream Charter"/>
              </a:rPr>
              <a:t>Crear servicios básicos de empleados y credenciales.</a:t>
            </a:r>
          </a:p>
        </p:txBody>
      </p:sp>
      <p:sp>
        <p:nvSpPr>
          <p:cNvPr id="13" name="Rectángulo 12">
            <a:extLst>
              <a:ext uri="{FF2B5EF4-FFF2-40B4-BE49-F238E27FC236}">
                <a16:creationId xmlns:a16="http://schemas.microsoft.com/office/drawing/2014/main" id="{35120CC9-6C83-4096-9128-741DA7028CE0}"/>
              </a:ext>
            </a:extLst>
          </p:cNvPr>
          <p:cNvSpPr>
            <a:spLocks noGrp="1"/>
          </p:cNvSpPr>
          <p:nvPr/>
        </p:nvSpPr>
        <p:spPr>
          <a:xfrm>
            <a:off x="4400550" y="4857750"/>
            <a:ext cx="3324225" cy="8382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800" b="0">
                <a:solidFill>
                  <a:srgbClr val="17283C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800" b="0">
                <a:solidFill>
                  <a:srgbClr val="17283C"/>
                </a:solidFill>
                <a:latin typeface="Bitstream Charter"/>
                <a:ea typeface="Bitstream Charter"/>
                <a:cs typeface="Bitstream Charter"/>
              </a:rPr>
              <a:t>Incluir la revocación de credenciales.</a:t>
            </a:r>
          </a:p>
        </p:txBody>
      </p:sp>
      <p:sp>
        <p:nvSpPr>
          <p:cNvPr id="14" name="Rectángulo 13">
            <a:extLst>
              <a:ext uri="{FF2B5EF4-FFF2-40B4-BE49-F238E27FC236}">
                <a16:creationId xmlns:a16="http://schemas.microsoft.com/office/drawing/2014/main" id="{EAAC916C-A496-4077-A2AE-2145737C6DD1}"/>
              </a:ext>
            </a:extLst>
          </p:cNvPr>
          <p:cNvSpPr>
            <a:spLocks noGrp="1"/>
          </p:cNvSpPr>
          <p:nvPr/>
        </p:nvSpPr>
        <p:spPr>
          <a:xfrm>
            <a:off x="8191500" y="2019300"/>
            <a:ext cx="3390900" cy="4572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550" b="1">
                <a:solidFill>
                  <a:srgbClr val="2A64A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550" b="1">
                <a:solidFill>
                  <a:srgbClr val="2A64AF"/>
                </a:solidFill>
                <a:latin typeface="Bitstream Charter"/>
                <a:ea typeface="Bitstream Charter"/>
                <a:cs typeface="Bitstream Charter"/>
              </a:rPr>
              <a:t>Julio</a:t>
            </a:r>
          </a:p>
        </p:txBody>
      </p:sp>
      <p:sp>
        <p:nvSpPr>
          <p:cNvPr id="15" name="Rectángulo 14">
            <a:extLst>
              <a:ext uri="{FF2B5EF4-FFF2-40B4-BE49-F238E27FC236}">
                <a16:creationId xmlns:a16="http://schemas.microsoft.com/office/drawing/2014/main" id="{9C646FB0-3D7E-4983-9D08-626AB9BE0041}"/>
              </a:ext>
            </a:extLst>
          </p:cNvPr>
          <p:cNvSpPr>
            <a:spLocks noGrp="1"/>
          </p:cNvSpPr>
          <p:nvPr/>
        </p:nvSpPr>
        <p:spPr>
          <a:xfrm>
            <a:off x="8191500" y="2524125"/>
            <a:ext cx="3390900" cy="3143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575" b="0">
                <a:solidFill>
                  <a:srgbClr val="596677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575" b="0">
                <a:solidFill>
                  <a:srgbClr val="596677"/>
                </a:solidFill>
                <a:latin typeface="Bitstream Charter"/>
                <a:ea typeface="Bitstream Charter"/>
                <a:cs typeface="Bitstream Charter"/>
              </a:rPr>
              <a:t>Liderazgo, IoT y BD</a:t>
            </a:r>
          </a:p>
        </p:txBody>
      </p:sp>
      <p:sp>
        <p:nvSpPr>
          <p:cNvPr id="16" name="Rectángulo 15">
            <a:extLst>
              <a:ext uri="{FF2B5EF4-FFF2-40B4-BE49-F238E27FC236}">
                <a16:creationId xmlns:a16="http://schemas.microsoft.com/office/drawing/2014/main" id="{4A8FDA83-D128-4C29-BF6A-C011D0547595}"/>
              </a:ext>
            </a:extLst>
          </p:cNvPr>
          <p:cNvSpPr>
            <a:spLocks noGrp="1"/>
          </p:cNvSpPr>
          <p:nvPr/>
        </p:nvSpPr>
        <p:spPr>
          <a:xfrm>
            <a:off x="8191500" y="3143250"/>
            <a:ext cx="3324225" cy="8382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800" b="0">
                <a:solidFill>
                  <a:srgbClr val="17283C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800" b="0">
                <a:solidFill>
                  <a:srgbClr val="17283C"/>
                </a:solidFill>
                <a:latin typeface="Bitstream Charter"/>
                <a:ea typeface="Bitstream Charter"/>
                <a:cs typeface="Bitstream Charter"/>
              </a:rPr>
              <a:t>Crear la base de datos.</a:t>
            </a:r>
          </a:p>
        </p:txBody>
      </p:sp>
      <p:sp>
        <p:nvSpPr>
          <p:cNvPr id="17" name="Rectángulo 16">
            <a:extLst>
              <a:ext uri="{FF2B5EF4-FFF2-40B4-BE49-F238E27FC236}">
                <a16:creationId xmlns:a16="http://schemas.microsoft.com/office/drawing/2014/main" id="{5F87FE4E-B48D-4E4C-BF8B-2CFCE67D566F}"/>
              </a:ext>
            </a:extLst>
          </p:cNvPr>
          <p:cNvSpPr>
            <a:spLocks noGrp="1"/>
          </p:cNvSpPr>
          <p:nvPr/>
        </p:nvSpPr>
        <p:spPr>
          <a:xfrm>
            <a:off x="8191500" y="4000500"/>
            <a:ext cx="3324225" cy="8382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800" b="0">
                <a:solidFill>
                  <a:srgbClr val="17283C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800" b="0">
                <a:solidFill>
                  <a:srgbClr val="17283C"/>
                </a:solidFill>
                <a:latin typeface="Bitstream Charter"/>
                <a:ea typeface="Bitstream Charter"/>
                <a:cs typeface="Bitstream Charter"/>
              </a:rPr>
              <a:t>Programar la lectura NFC y señales de aceptación o rechazo.</a:t>
            </a:r>
          </a:p>
        </p:txBody>
      </p:sp>
      <p:sp>
        <p:nvSpPr>
          <p:cNvPr id="18" name="Rectángulo 17">
            <a:extLst>
              <a:ext uri="{FF2B5EF4-FFF2-40B4-BE49-F238E27FC236}">
                <a16:creationId xmlns:a16="http://schemas.microsoft.com/office/drawing/2014/main" id="{A09B388F-4137-498F-9A7C-DE44474C4BD6}"/>
              </a:ext>
            </a:extLst>
          </p:cNvPr>
          <p:cNvSpPr>
            <a:spLocks noGrp="1"/>
          </p:cNvSpPr>
          <p:nvPr/>
        </p:nvSpPr>
        <p:spPr>
          <a:xfrm>
            <a:off x="8191500" y="4857750"/>
            <a:ext cx="3324225" cy="8382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800" b="0">
                <a:solidFill>
                  <a:srgbClr val="17283C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800" b="0">
                <a:solidFill>
                  <a:srgbClr val="17283C"/>
                </a:solidFill>
                <a:latin typeface="Bitstream Charter"/>
                <a:ea typeface="Bitstream Charter"/>
                <a:cs typeface="Bitstream Charter"/>
              </a:rPr>
              <a:t>Evaluar la credencial digital con Diego.</a:t>
            </a:r>
          </a:p>
        </p:txBody>
      </p:sp>
      <p:sp>
        <p:nvSpPr>
          <p:cNvPr id="19" name="Rectángulo 18">
            <a:extLst>
              <a:ext uri="{FF2B5EF4-FFF2-40B4-BE49-F238E27FC236}">
                <a16:creationId xmlns:a16="http://schemas.microsoft.com/office/drawing/2014/main" id="{C903FFDB-9D4C-43B5-ACEE-7BE2CB534ABD}"/>
              </a:ext>
            </a:extLst>
          </p:cNvPr>
          <p:cNvSpPr>
            <a:spLocks noGrp="1"/>
          </p:cNvSpPr>
          <p:nvPr/>
        </p:nvSpPr>
        <p:spPr>
          <a:xfrm>
            <a:off x="609600" y="5648325"/>
            <a:ext cx="10001250" cy="2667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425" b="1">
                <a:solidFill>
                  <a:srgbClr val="087F80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425" b="1">
                <a:solidFill>
                  <a:srgbClr val="087F80"/>
                </a:solidFill>
                <a:latin typeface="Bitstream Charter"/>
                <a:ea typeface="Bitstream Charter"/>
                <a:cs typeface="Bitstream Charter"/>
              </a:rPr>
              <a:t>RESULTADO DE LA CLASE</a:t>
            </a:r>
          </a:p>
        </p:txBody>
      </p:sp>
      <p:sp>
        <p:nvSpPr>
          <p:cNvPr id="20" name="Rectángulo 19">
            <a:extLst>
              <a:ext uri="{FF2B5EF4-FFF2-40B4-BE49-F238E27FC236}">
                <a16:creationId xmlns:a16="http://schemas.microsoft.com/office/drawing/2014/main" id="{7EA57BAA-928E-4717-9F6E-A02E1126B414}"/>
              </a:ext>
            </a:extLst>
          </p:cNvPr>
          <p:cNvSpPr>
            <a:spLocks noGrp="1"/>
          </p:cNvSpPr>
          <p:nvPr/>
        </p:nvSpPr>
        <p:spPr>
          <a:xfrm>
            <a:off x="609600" y="6038850"/>
            <a:ext cx="10915650" cy="5810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875" b="1">
                <a:solidFill>
                  <a:srgbClr val="17283C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875" b="1">
                <a:solidFill>
                  <a:srgbClr val="17283C"/>
                </a:solidFill>
                <a:latin typeface="Bitstream Charter"/>
                <a:ea typeface="Bitstream Charter"/>
                <a:cs typeface="Bitstream Charter"/>
              </a:rPr>
              <a:t>Gestión inicial de empleados y credenciales, con lectura NFC física operativa.</a:t>
            </a:r>
          </a:p>
        </p:txBody>
      </p:sp>
    </p:spTree>
    <p:extLst>
      <p:ext uri="{BB962C8B-B14F-4D97-AF65-F5344CB8AC3E}">
        <p14:creationId xmlns:p14="http://schemas.microsoft.com/office/powerpoint/2010/main" val="7066417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3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ángulo 20">
            <a:extLst>
              <a:ext uri="{FF2B5EF4-FFF2-40B4-BE49-F238E27FC236}">
                <a16:creationId xmlns:a16="http://schemas.microsoft.com/office/drawing/2014/main" id="{C33C147B-E4E9-4CA0-AC66-6BCEFC8AEAE8}"/>
              </a:ext>
            </a:extLst>
          </p:cNvPr>
          <p:cNvSpPr>
            <a:spLocks noGrp="1"/>
          </p:cNvSpPr>
          <p:nvPr/>
        </p:nvSpPr>
        <p:spPr>
          <a:xfrm>
            <a:off x="552450" y="333375"/>
            <a:ext cx="1571625" cy="11811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6900" b="1">
                <a:solidFill>
                  <a:srgbClr val="087F80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6900" b="1">
                <a:solidFill>
                  <a:srgbClr val="087F80"/>
                </a:solidFill>
                <a:latin typeface="Bitstream Charter"/>
                <a:ea typeface="Bitstream Charter"/>
                <a:cs typeface="Bitstream Charter"/>
              </a:rPr>
              <a:t>21</a:t>
            </a:r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DF9B1E45-205B-4B71-BDDE-262C2F518399}"/>
              </a:ext>
            </a:extLst>
          </p:cNvPr>
          <p:cNvSpPr>
            <a:spLocks noGrp="1"/>
          </p:cNvSpPr>
          <p:nvPr/>
        </p:nvSpPr>
        <p:spPr>
          <a:xfrm>
            <a:off x="2190750" y="476250"/>
            <a:ext cx="6191250" cy="3143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575" b="1">
                <a:solidFill>
                  <a:srgbClr val="596677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575" b="1">
                <a:solidFill>
                  <a:srgbClr val="596677"/>
                </a:solidFill>
                <a:latin typeface="Bitstream Charter"/>
                <a:ea typeface="Bitstream Charter"/>
                <a:cs typeface="Bitstream Charter"/>
              </a:rPr>
              <a:t>OCTUBRE 2026</a:t>
            </a:r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D2D5DBF3-CC06-4301-9E6F-00A9EF161550}"/>
              </a:ext>
            </a:extLst>
          </p:cNvPr>
          <p:cNvSpPr>
            <a:spLocks noGrp="1"/>
          </p:cNvSpPr>
          <p:nvPr/>
        </p:nvSpPr>
        <p:spPr>
          <a:xfrm>
            <a:off x="2190750" y="876300"/>
            <a:ext cx="9334500" cy="6381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3225" b="1">
                <a:solidFill>
                  <a:srgbClr val="17283C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3225" b="1">
                <a:solidFill>
                  <a:srgbClr val="17283C"/>
                </a:solidFill>
                <a:latin typeface="Bitstream Charter"/>
                <a:ea typeface="Bitstream Charter"/>
                <a:cs typeface="Bitstream Charter"/>
              </a:rPr>
              <a:t>Integración</a:t>
            </a:r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3490F39A-B591-4969-BC8F-FB5CE4E49ACF}"/>
              </a:ext>
            </a:extLst>
          </p:cNvPr>
          <p:cNvSpPr>
            <a:spLocks noGrp="1"/>
          </p:cNvSpPr>
          <p:nvPr/>
        </p:nvSpPr>
        <p:spPr>
          <a:xfrm>
            <a:off x="609600" y="2019300"/>
            <a:ext cx="3390900" cy="4572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550" b="1">
                <a:solidFill>
                  <a:srgbClr val="087F80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550" b="1">
                <a:solidFill>
                  <a:srgbClr val="087F80"/>
                </a:solidFill>
                <a:latin typeface="Bitstream Charter"/>
                <a:ea typeface="Bitstream Charter"/>
                <a:cs typeface="Bitstream Charter"/>
              </a:rPr>
              <a:t>Diego</a:t>
            </a: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23A42DAE-A7A2-4F88-BC0E-0D9C111837C0}"/>
              </a:ext>
            </a:extLst>
          </p:cNvPr>
          <p:cNvSpPr>
            <a:spLocks noGrp="1"/>
          </p:cNvSpPr>
          <p:nvPr/>
        </p:nvSpPr>
        <p:spPr>
          <a:xfrm>
            <a:off x="609600" y="2524125"/>
            <a:ext cx="3390900" cy="3143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575" b="0">
                <a:solidFill>
                  <a:srgbClr val="596677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575" b="0">
                <a:solidFill>
                  <a:srgbClr val="596677"/>
                </a:solidFill>
                <a:latin typeface="Bitstream Charter"/>
                <a:ea typeface="Bitstream Charter"/>
                <a:cs typeface="Bitstream Charter"/>
              </a:rPr>
              <a:t>Frontend</a:t>
            </a:r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59996F85-CA6A-461D-9A07-913C2F6CC6AF}"/>
              </a:ext>
            </a:extLst>
          </p:cNvPr>
          <p:cNvSpPr>
            <a:spLocks noGrp="1"/>
          </p:cNvSpPr>
          <p:nvPr/>
        </p:nvSpPr>
        <p:spPr>
          <a:xfrm>
            <a:off x="609600" y="3143250"/>
            <a:ext cx="3324225" cy="8382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800" b="0">
                <a:solidFill>
                  <a:srgbClr val="17283C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800" b="0">
                <a:solidFill>
                  <a:srgbClr val="17283C"/>
                </a:solidFill>
                <a:latin typeface="Bitstream Charter"/>
                <a:ea typeface="Bitstream Charter"/>
                <a:cs typeface="Bitstream Charter"/>
              </a:rPr>
              <a:t>Conectar las pantallas con la API.</a:t>
            </a:r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338937EA-8ECB-42C2-80E0-1637969EB416}"/>
              </a:ext>
            </a:extLst>
          </p:cNvPr>
          <p:cNvSpPr>
            <a:spLocks noGrp="1"/>
          </p:cNvSpPr>
          <p:nvPr/>
        </p:nvSpPr>
        <p:spPr>
          <a:xfrm>
            <a:off x="609600" y="4000500"/>
            <a:ext cx="3324225" cy="8382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800" b="0">
                <a:solidFill>
                  <a:srgbClr val="17283C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800" b="0">
                <a:solidFill>
                  <a:srgbClr val="17283C"/>
                </a:solidFill>
                <a:latin typeface="Bitstream Charter"/>
                <a:ea typeface="Bitstream Charter"/>
                <a:cs typeface="Bitstream Charter"/>
              </a:rPr>
              <a:t>Desarrollar consulta de marcaciones y asignación de permisos.</a:t>
            </a:r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CC9E29C2-4491-4329-9644-E955AF780E63}"/>
              </a:ext>
            </a:extLst>
          </p:cNvPr>
          <p:cNvSpPr>
            <a:spLocks noGrp="1"/>
          </p:cNvSpPr>
          <p:nvPr/>
        </p:nvSpPr>
        <p:spPr>
          <a:xfrm>
            <a:off x="609600" y="4857750"/>
            <a:ext cx="3324225" cy="8382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800" b="0">
                <a:solidFill>
                  <a:srgbClr val="17283C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800" b="0">
                <a:solidFill>
                  <a:srgbClr val="17283C"/>
                </a:solidFill>
                <a:latin typeface="Bitstream Charter"/>
                <a:ea typeface="Bitstream Charter"/>
                <a:cs typeface="Bitstream Charter"/>
              </a:rPr>
              <a:t>Integrar NFC digital si resulta compatible.</a:t>
            </a:r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7063D5DD-73FD-43D6-885A-A3411F3F704B}"/>
              </a:ext>
            </a:extLst>
          </p:cNvPr>
          <p:cNvSpPr>
            <a:spLocks noGrp="1"/>
          </p:cNvSpPr>
          <p:nvPr/>
        </p:nvSpPr>
        <p:spPr>
          <a:xfrm>
            <a:off x="4400550" y="2019300"/>
            <a:ext cx="3390900" cy="4572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550" b="1">
                <a:solidFill>
                  <a:srgbClr val="7456A6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550" b="1">
                <a:solidFill>
                  <a:srgbClr val="7456A6"/>
                </a:solidFill>
                <a:latin typeface="Bitstream Charter"/>
                <a:ea typeface="Bitstream Charter"/>
                <a:cs typeface="Bitstream Charter"/>
              </a:rPr>
              <a:t>Sofía</a:t>
            </a:r>
          </a:p>
        </p:txBody>
      </p:sp>
      <p:sp>
        <p:nvSpPr>
          <p:cNvPr id="10" name="Rectángulo 9">
            <a:extLst>
              <a:ext uri="{FF2B5EF4-FFF2-40B4-BE49-F238E27FC236}">
                <a16:creationId xmlns:a16="http://schemas.microsoft.com/office/drawing/2014/main" id="{59F4E0FE-FC80-4E86-8BAA-5B7F029AA744}"/>
              </a:ext>
            </a:extLst>
          </p:cNvPr>
          <p:cNvSpPr>
            <a:spLocks noGrp="1"/>
          </p:cNvSpPr>
          <p:nvPr/>
        </p:nvSpPr>
        <p:spPr>
          <a:xfrm>
            <a:off x="4400550" y="2524125"/>
            <a:ext cx="3390900" cy="3143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575" b="0">
                <a:solidFill>
                  <a:srgbClr val="596677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575" b="0">
                <a:solidFill>
                  <a:srgbClr val="596677"/>
                </a:solidFill>
                <a:latin typeface="Bitstream Charter"/>
                <a:ea typeface="Bitstream Charter"/>
                <a:cs typeface="Bitstream Charter"/>
              </a:rPr>
              <a:t>Backend</a:t>
            </a:r>
          </a:p>
        </p:txBody>
      </p:sp>
      <p:sp>
        <p:nvSpPr>
          <p:cNvPr id="11" name="Rectángulo 10">
            <a:extLst>
              <a:ext uri="{FF2B5EF4-FFF2-40B4-BE49-F238E27FC236}">
                <a16:creationId xmlns:a16="http://schemas.microsoft.com/office/drawing/2014/main" id="{692DFBD6-44A4-455E-8A20-CA7FDBC28282}"/>
              </a:ext>
            </a:extLst>
          </p:cNvPr>
          <p:cNvSpPr>
            <a:spLocks noGrp="1"/>
          </p:cNvSpPr>
          <p:nvPr/>
        </p:nvSpPr>
        <p:spPr>
          <a:xfrm>
            <a:off x="4400550" y="3143250"/>
            <a:ext cx="3324225" cy="8382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800" b="0">
                <a:solidFill>
                  <a:srgbClr val="17283C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800" b="0">
                <a:solidFill>
                  <a:srgbClr val="17283C"/>
                </a:solidFill>
                <a:latin typeface="Bitstream Charter"/>
                <a:ea typeface="Bitstream Charter"/>
                <a:cs typeface="Bitstream Charter"/>
              </a:rPr>
              <a:t>Validar permisos por rol.</a:t>
            </a:r>
          </a:p>
        </p:txBody>
      </p:sp>
      <p:sp>
        <p:nvSpPr>
          <p:cNvPr id="12" name="Rectángulo 11">
            <a:extLst>
              <a:ext uri="{FF2B5EF4-FFF2-40B4-BE49-F238E27FC236}">
                <a16:creationId xmlns:a16="http://schemas.microsoft.com/office/drawing/2014/main" id="{AC2164AB-3E35-4A8E-9AD7-D097474FE3E1}"/>
              </a:ext>
            </a:extLst>
          </p:cNvPr>
          <p:cNvSpPr>
            <a:spLocks noGrp="1"/>
          </p:cNvSpPr>
          <p:nvPr/>
        </p:nvSpPr>
        <p:spPr>
          <a:xfrm>
            <a:off x="4400550" y="4000500"/>
            <a:ext cx="3324225" cy="8382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800" b="0">
                <a:solidFill>
                  <a:srgbClr val="17283C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800" b="0">
                <a:solidFill>
                  <a:srgbClr val="17283C"/>
                </a:solidFill>
                <a:latin typeface="Bitstream Charter"/>
                <a:ea typeface="Bitstream Charter"/>
                <a:cs typeface="Bitstream Charter"/>
              </a:rPr>
              <a:t>Registrar accesos y marcaciones.</a:t>
            </a:r>
          </a:p>
        </p:txBody>
      </p:sp>
      <p:sp>
        <p:nvSpPr>
          <p:cNvPr id="13" name="Rectángulo 12">
            <a:extLst>
              <a:ext uri="{FF2B5EF4-FFF2-40B4-BE49-F238E27FC236}">
                <a16:creationId xmlns:a16="http://schemas.microsoft.com/office/drawing/2014/main" id="{FBC81859-DC3D-4DCA-9F11-25A7B054F099}"/>
              </a:ext>
            </a:extLst>
          </p:cNvPr>
          <p:cNvSpPr>
            <a:spLocks noGrp="1"/>
          </p:cNvSpPr>
          <p:nvPr/>
        </p:nvSpPr>
        <p:spPr>
          <a:xfrm>
            <a:off x="4400550" y="4857750"/>
            <a:ext cx="3324225" cy="8382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800" b="0">
                <a:solidFill>
                  <a:srgbClr val="17283C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800" b="0">
                <a:solidFill>
                  <a:srgbClr val="17283C"/>
                </a:solidFill>
                <a:latin typeface="Bitstream Charter"/>
                <a:ea typeface="Bitstream Charter"/>
                <a:cs typeface="Bitstream Charter"/>
              </a:rPr>
              <a:t>Implementar consultas para reportes.</a:t>
            </a:r>
          </a:p>
        </p:txBody>
      </p:sp>
      <p:sp>
        <p:nvSpPr>
          <p:cNvPr id="14" name="Rectángulo 13">
            <a:extLst>
              <a:ext uri="{FF2B5EF4-FFF2-40B4-BE49-F238E27FC236}">
                <a16:creationId xmlns:a16="http://schemas.microsoft.com/office/drawing/2014/main" id="{DB3E2569-36C4-4258-A8B9-1A77F650E606}"/>
              </a:ext>
            </a:extLst>
          </p:cNvPr>
          <p:cNvSpPr>
            <a:spLocks noGrp="1"/>
          </p:cNvSpPr>
          <p:nvPr/>
        </p:nvSpPr>
        <p:spPr>
          <a:xfrm>
            <a:off x="8191500" y="2019300"/>
            <a:ext cx="3390900" cy="4572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550" b="1">
                <a:solidFill>
                  <a:srgbClr val="2A64A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550" b="1">
                <a:solidFill>
                  <a:srgbClr val="2A64AF"/>
                </a:solidFill>
                <a:latin typeface="Bitstream Charter"/>
                <a:ea typeface="Bitstream Charter"/>
                <a:cs typeface="Bitstream Charter"/>
              </a:rPr>
              <a:t>Julio</a:t>
            </a:r>
          </a:p>
        </p:txBody>
      </p:sp>
      <p:sp>
        <p:nvSpPr>
          <p:cNvPr id="15" name="Rectángulo 14">
            <a:extLst>
              <a:ext uri="{FF2B5EF4-FFF2-40B4-BE49-F238E27FC236}">
                <a16:creationId xmlns:a16="http://schemas.microsoft.com/office/drawing/2014/main" id="{3876321E-C58B-4CE1-80EA-63DA63771F44}"/>
              </a:ext>
            </a:extLst>
          </p:cNvPr>
          <p:cNvSpPr>
            <a:spLocks noGrp="1"/>
          </p:cNvSpPr>
          <p:nvPr/>
        </p:nvSpPr>
        <p:spPr>
          <a:xfrm>
            <a:off x="8191500" y="2524125"/>
            <a:ext cx="3390900" cy="3143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575" b="0">
                <a:solidFill>
                  <a:srgbClr val="596677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575" b="0">
                <a:solidFill>
                  <a:srgbClr val="596677"/>
                </a:solidFill>
                <a:latin typeface="Bitstream Charter"/>
                <a:ea typeface="Bitstream Charter"/>
                <a:cs typeface="Bitstream Charter"/>
              </a:rPr>
              <a:t>Liderazgo, IoT y BD</a:t>
            </a:r>
          </a:p>
        </p:txBody>
      </p:sp>
      <p:sp>
        <p:nvSpPr>
          <p:cNvPr id="16" name="Rectángulo 15">
            <a:extLst>
              <a:ext uri="{FF2B5EF4-FFF2-40B4-BE49-F238E27FC236}">
                <a16:creationId xmlns:a16="http://schemas.microsoft.com/office/drawing/2014/main" id="{5817C769-E635-41EC-B213-0B96B9DB6376}"/>
              </a:ext>
            </a:extLst>
          </p:cNvPr>
          <p:cNvSpPr>
            <a:spLocks noGrp="1"/>
          </p:cNvSpPr>
          <p:nvPr/>
        </p:nvSpPr>
        <p:spPr>
          <a:xfrm>
            <a:off x="8191500" y="3143250"/>
            <a:ext cx="3324225" cy="8382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800" b="0">
                <a:solidFill>
                  <a:srgbClr val="17283C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800" b="0">
                <a:solidFill>
                  <a:srgbClr val="17283C"/>
                </a:solidFill>
                <a:latin typeface="Bitstream Charter"/>
                <a:ea typeface="Bitstream Charter"/>
                <a:cs typeface="Bitstream Charter"/>
              </a:rPr>
              <a:t>Conectar el ESP32 con la API.</a:t>
            </a:r>
          </a:p>
        </p:txBody>
      </p:sp>
      <p:sp>
        <p:nvSpPr>
          <p:cNvPr id="17" name="Rectángulo 16">
            <a:extLst>
              <a:ext uri="{FF2B5EF4-FFF2-40B4-BE49-F238E27FC236}">
                <a16:creationId xmlns:a16="http://schemas.microsoft.com/office/drawing/2014/main" id="{C9C751A6-4936-4759-ABFB-071E36D847EC}"/>
              </a:ext>
            </a:extLst>
          </p:cNvPr>
          <p:cNvSpPr>
            <a:spLocks noGrp="1"/>
          </p:cNvSpPr>
          <p:nvPr/>
        </p:nvSpPr>
        <p:spPr>
          <a:xfrm>
            <a:off x="8191500" y="4000500"/>
            <a:ext cx="3324225" cy="8382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800" b="0">
                <a:solidFill>
                  <a:srgbClr val="17283C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800" b="0">
                <a:solidFill>
                  <a:srgbClr val="17283C"/>
                </a:solidFill>
                <a:latin typeface="Bitstream Charter"/>
                <a:ea typeface="Bitstream Charter"/>
                <a:cs typeface="Bitstream Charter"/>
              </a:rPr>
              <a:t>Integrar cerradura de prueba o apertura simulada.</a:t>
            </a:r>
          </a:p>
        </p:txBody>
      </p:sp>
      <p:sp>
        <p:nvSpPr>
          <p:cNvPr id="18" name="Rectángulo 17">
            <a:extLst>
              <a:ext uri="{FF2B5EF4-FFF2-40B4-BE49-F238E27FC236}">
                <a16:creationId xmlns:a16="http://schemas.microsoft.com/office/drawing/2014/main" id="{BD1FBABA-3609-404B-B4B1-5F11B6155758}"/>
              </a:ext>
            </a:extLst>
          </p:cNvPr>
          <p:cNvSpPr>
            <a:spLocks noGrp="1"/>
          </p:cNvSpPr>
          <p:nvPr/>
        </p:nvSpPr>
        <p:spPr>
          <a:xfrm>
            <a:off x="8191500" y="4857750"/>
            <a:ext cx="3324225" cy="8382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800" b="0">
                <a:solidFill>
                  <a:srgbClr val="17283C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800" b="0">
                <a:solidFill>
                  <a:srgbClr val="17283C"/>
                </a:solidFill>
                <a:latin typeface="Bitstream Charter"/>
                <a:ea typeface="Bitstream Charter"/>
                <a:cs typeface="Bitstream Charter"/>
              </a:rPr>
              <a:t>Verificar el registro de eventos.</a:t>
            </a:r>
          </a:p>
        </p:txBody>
      </p:sp>
      <p:sp>
        <p:nvSpPr>
          <p:cNvPr id="19" name="Rectángulo 18">
            <a:extLst>
              <a:ext uri="{FF2B5EF4-FFF2-40B4-BE49-F238E27FC236}">
                <a16:creationId xmlns:a16="http://schemas.microsoft.com/office/drawing/2014/main" id="{1D738EEB-2168-4F4B-A62A-2F1F9649B5D4}"/>
              </a:ext>
            </a:extLst>
          </p:cNvPr>
          <p:cNvSpPr>
            <a:spLocks noGrp="1"/>
          </p:cNvSpPr>
          <p:nvPr/>
        </p:nvSpPr>
        <p:spPr>
          <a:xfrm>
            <a:off x="609600" y="5648325"/>
            <a:ext cx="10001250" cy="2667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425" b="1">
                <a:solidFill>
                  <a:srgbClr val="087F80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425" b="1">
                <a:solidFill>
                  <a:srgbClr val="087F80"/>
                </a:solidFill>
                <a:latin typeface="Bitstream Charter"/>
                <a:ea typeface="Bitstream Charter"/>
                <a:cs typeface="Bitstream Charter"/>
              </a:rPr>
              <a:t>RESULTADO DE LA CLASE</a:t>
            </a:r>
          </a:p>
        </p:txBody>
      </p:sp>
      <p:sp>
        <p:nvSpPr>
          <p:cNvPr id="20" name="Rectángulo 19">
            <a:extLst>
              <a:ext uri="{FF2B5EF4-FFF2-40B4-BE49-F238E27FC236}">
                <a16:creationId xmlns:a16="http://schemas.microsoft.com/office/drawing/2014/main" id="{EC108397-0625-4DC9-AF4C-C5E8667BB147}"/>
              </a:ext>
            </a:extLst>
          </p:cNvPr>
          <p:cNvSpPr>
            <a:spLocks noGrp="1"/>
          </p:cNvSpPr>
          <p:nvPr/>
        </p:nvSpPr>
        <p:spPr>
          <a:xfrm>
            <a:off x="609600" y="6038850"/>
            <a:ext cx="10915650" cy="5810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875" b="1">
                <a:solidFill>
                  <a:srgbClr val="17283C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875" b="1">
                <a:solidFill>
                  <a:srgbClr val="17283C"/>
                </a:solidFill>
                <a:latin typeface="Bitstream Charter"/>
                <a:ea typeface="Bitstream Charter"/>
                <a:cs typeface="Bitstream Charter"/>
              </a:rPr>
              <a:t>Prototipo integrado para registrar asistencia y aceptar o rechazar accesos.</a:t>
            </a:r>
          </a:p>
        </p:txBody>
      </p:sp>
    </p:spTree>
    <p:extLst>
      <p:ext uri="{BB962C8B-B14F-4D97-AF65-F5344CB8AC3E}">
        <p14:creationId xmlns:p14="http://schemas.microsoft.com/office/powerpoint/2010/main" val="49054198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3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ángulo 20">
            <a:extLst>
              <a:ext uri="{FF2B5EF4-FFF2-40B4-BE49-F238E27FC236}">
                <a16:creationId xmlns:a16="http://schemas.microsoft.com/office/drawing/2014/main" id="{E9FF9F55-00ED-470A-80C5-9A02B04B339A}"/>
              </a:ext>
            </a:extLst>
          </p:cNvPr>
          <p:cNvSpPr>
            <a:spLocks noGrp="1"/>
          </p:cNvSpPr>
          <p:nvPr/>
        </p:nvSpPr>
        <p:spPr>
          <a:xfrm>
            <a:off x="552450" y="333375"/>
            <a:ext cx="1571625" cy="11811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6900" b="1">
                <a:solidFill>
                  <a:srgbClr val="087F80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6900" b="1">
                <a:solidFill>
                  <a:srgbClr val="087F80"/>
                </a:solidFill>
                <a:latin typeface="Bitstream Charter"/>
                <a:ea typeface="Bitstream Charter"/>
                <a:cs typeface="Bitstream Charter"/>
              </a:rPr>
              <a:t>28</a:t>
            </a:r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69E8A096-0753-4DBA-BF4F-0B7BE81B5A35}"/>
              </a:ext>
            </a:extLst>
          </p:cNvPr>
          <p:cNvSpPr>
            <a:spLocks noGrp="1"/>
          </p:cNvSpPr>
          <p:nvPr/>
        </p:nvSpPr>
        <p:spPr>
          <a:xfrm>
            <a:off x="2190750" y="476250"/>
            <a:ext cx="6191250" cy="3143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575" b="1">
                <a:solidFill>
                  <a:srgbClr val="596677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575" b="1">
                <a:solidFill>
                  <a:srgbClr val="596677"/>
                </a:solidFill>
                <a:latin typeface="Bitstream Charter"/>
                <a:ea typeface="Bitstream Charter"/>
                <a:cs typeface="Bitstream Charter"/>
              </a:rPr>
              <a:t>OCTUBRE 2026</a:t>
            </a:r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81FA625F-9AE3-4C71-83FB-949A2BFB58BD}"/>
              </a:ext>
            </a:extLst>
          </p:cNvPr>
          <p:cNvSpPr>
            <a:spLocks noGrp="1"/>
          </p:cNvSpPr>
          <p:nvPr/>
        </p:nvSpPr>
        <p:spPr>
          <a:xfrm>
            <a:off x="2190750" y="876300"/>
            <a:ext cx="9334500" cy="6381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3225" b="1">
                <a:solidFill>
                  <a:srgbClr val="17283C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3225" b="1">
                <a:solidFill>
                  <a:srgbClr val="17283C"/>
                </a:solidFill>
                <a:latin typeface="Bitstream Charter"/>
                <a:ea typeface="Bitstream Charter"/>
                <a:cs typeface="Bitstream Charter"/>
              </a:rPr>
              <a:t>Pruebas y presentación</a:t>
            </a:r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85B0E8CE-B93E-455A-AED8-7A3DAF7BDBF8}"/>
              </a:ext>
            </a:extLst>
          </p:cNvPr>
          <p:cNvSpPr>
            <a:spLocks noGrp="1"/>
          </p:cNvSpPr>
          <p:nvPr/>
        </p:nvSpPr>
        <p:spPr>
          <a:xfrm>
            <a:off x="609600" y="2019300"/>
            <a:ext cx="3390900" cy="4572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550" b="1">
                <a:solidFill>
                  <a:srgbClr val="087F80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550" b="1">
                <a:solidFill>
                  <a:srgbClr val="087F80"/>
                </a:solidFill>
                <a:latin typeface="Bitstream Charter"/>
                <a:ea typeface="Bitstream Charter"/>
                <a:cs typeface="Bitstream Charter"/>
              </a:rPr>
              <a:t>Diego</a:t>
            </a: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C2CB930B-3A79-4047-9B75-B11689E7EC5E}"/>
              </a:ext>
            </a:extLst>
          </p:cNvPr>
          <p:cNvSpPr>
            <a:spLocks noGrp="1"/>
          </p:cNvSpPr>
          <p:nvPr/>
        </p:nvSpPr>
        <p:spPr>
          <a:xfrm>
            <a:off x="609600" y="2524125"/>
            <a:ext cx="3390900" cy="3143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575" b="0">
                <a:solidFill>
                  <a:srgbClr val="596677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575" b="0">
                <a:solidFill>
                  <a:srgbClr val="596677"/>
                </a:solidFill>
                <a:latin typeface="Bitstream Charter"/>
                <a:ea typeface="Bitstream Charter"/>
                <a:cs typeface="Bitstream Charter"/>
              </a:rPr>
              <a:t>Frontend</a:t>
            </a:r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64768FBD-C5A2-4A87-A720-1F0FC93F7033}"/>
              </a:ext>
            </a:extLst>
          </p:cNvPr>
          <p:cNvSpPr>
            <a:spLocks noGrp="1"/>
          </p:cNvSpPr>
          <p:nvPr/>
        </p:nvSpPr>
        <p:spPr>
          <a:xfrm>
            <a:off x="609600" y="3143250"/>
            <a:ext cx="3324225" cy="8382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800" b="0">
                <a:solidFill>
                  <a:srgbClr val="17283C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800" b="0">
                <a:solidFill>
                  <a:srgbClr val="17283C"/>
                </a:solidFill>
                <a:latin typeface="Bitstream Charter"/>
                <a:ea typeface="Bitstream Charter"/>
                <a:cs typeface="Bitstream Charter"/>
              </a:rPr>
              <a:t>Probar los recorridos de usuario.</a:t>
            </a:r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942CC7B7-A1B1-49EA-B579-2A711113AF6E}"/>
              </a:ext>
            </a:extLst>
          </p:cNvPr>
          <p:cNvSpPr>
            <a:spLocks noGrp="1"/>
          </p:cNvSpPr>
          <p:nvPr/>
        </p:nvSpPr>
        <p:spPr>
          <a:xfrm>
            <a:off x="609600" y="4000500"/>
            <a:ext cx="3324225" cy="8382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800" b="0">
                <a:solidFill>
                  <a:srgbClr val="17283C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800" b="0">
                <a:solidFill>
                  <a:srgbClr val="17283C"/>
                </a:solidFill>
                <a:latin typeface="Bitstream Charter"/>
                <a:ea typeface="Bitstream Charter"/>
                <a:cs typeface="Bitstream Charter"/>
              </a:rPr>
              <a:t>Corregir las interfaces.</a:t>
            </a:r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1893A34D-F9A6-4B65-AEFF-4F2AD32ADBFD}"/>
              </a:ext>
            </a:extLst>
          </p:cNvPr>
          <p:cNvSpPr>
            <a:spLocks noGrp="1"/>
          </p:cNvSpPr>
          <p:nvPr/>
        </p:nvSpPr>
        <p:spPr>
          <a:xfrm>
            <a:off x="609600" y="4857750"/>
            <a:ext cx="3324225" cy="8382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800" b="0">
                <a:solidFill>
                  <a:srgbClr val="17283C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800" b="0">
                <a:solidFill>
                  <a:srgbClr val="17283C"/>
                </a:solidFill>
                <a:latin typeface="Bitstream Charter"/>
                <a:ea typeface="Bitstream Charter"/>
                <a:cs typeface="Bitstream Charter"/>
              </a:rPr>
              <a:t>Preparar la demostración del portal y la aplicación.</a:t>
            </a:r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27C43623-3A80-4209-BB51-3B6297D05910}"/>
              </a:ext>
            </a:extLst>
          </p:cNvPr>
          <p:cNvSpPr>
            <a:spLocks noGrp="1"/>
          </p:cNvSpPr>
          <p:nvPr/>
        </p:nvSpPr>
        <p:spPr>
          <a:xfrm>
            <a:off x="4400550" y="2019300"/>
            <a:ext cx="3390900" cy="4572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550" b="1">
                <a:solidFill>
                  <a:srgbClr val="7456A6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550" b="1">
                <a:solidFill>
                  <a:srgbClr val="7456A6"/>
                </a:solidFill>
                <a:latin typeface="Bitstream Charter"/>
                <a:ea typeface="Bitstream Charter"/>
                <a:cs typeface="Bitstream Charter"/>
              </a:rPr>
              <a:t>Sofía</a:t>
            </a:r>
          </a:p>
        </p:txBody>
      </p:sp>
      <p:sp>
        <p:nvSpPr>
          <p:cNvPr id="10" name="Rectángulo 9">
            <a:extLst>
              <a:ext uri="{FF2B5EF4-FFF2-40B4-BE49-F238E27FC236}">
                <a16:creationId xmlns:a16="http://schemas.microsoft.com/office/drawing/2014/main" id="{D552906C-2109-4F42-9F13-17D3266DD606}"/>
              </a:ext>
            </a:extLst>
          </p:cNvPr>
          <p:cNvSpPr>
            <a:spLocks noGrp="1"/>
          </p:cNvSpPr>
          <p:nvPr/>
        </p:nvSpPr>
        <p:spPr>
          <a:xfrm>
            <a:off x="4400550" y="2524125"/>
            <a:ext cx="3390900" cy="3143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575" b="0">
                <a:solidFill>
                  <a:srgbClr val="596677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575" b="0">
                <a:solidFill>
                  <a:srgbClr val="596677"/>
                </a:solidFill>
                <a:latin typeface="Bitstream Charter"/>
                <a:ea typeface="Bitstream Charter"/>
                <a:cs typeface="Bitstream Charter"/>
              </a:rPr>
              <a:t>Backend</a:t>
            </a:r>
          </a:p>
        </p:txBody>
      </p:sp>
      <p:sp>
        <p:nvSpPr>
          <p:cNvPr id="11" name="Rectángulo 10">
            <a:extLst>
              <a:ext uri="{FF2B5EF4-FFF2-40B4-BE49-F238E27FC236}">
                <a16:creationId xmlns:a16="http://schemas.microsoft.com/office/drawing/2014/main" id="{80816EC0-65A2-4E20-B89C-3BB225D12138}"/>
              </a:ext>
            </a:extLst>
          </p:cNvPr>
          <p:cNvSpPr>
            <a:spLocks noGrp="1"/>
          </p:cNvSpPr>
          <p:nvPr/>
        </p:nvSpPr>
        <p:spPr>
          <a:xfrm>
            <a:off x="4400550" y="3143250"/>
            <a:ext cx="3324225" cy="8382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800" b="0">
                <a:solidFill>
                  <a:srgbClr val="17283C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800" b="0">
                <a:solidFill>
                  <a:srgbClr val="17283C"/>
                </a:solidFill>
                <a:latin typeface="Bitstream Charter"/>
                <a:ea typeface="Bitstream Charter"/>
                <a:cs typeface="Bitstream Charter"/>
              </a:rPr>
              <a:t>Probar permisos y credenciales revocadas.</a:t>
            </a:r>
          </a:p>
        </p:txBody>
      </p:sp>
      <p:sp>
        <p:nvSpPr>
          <p:cNvPr id="12" name="Rectángulo 11">
            <a:extLst>
              <a:ext uri="{FF2B5EF4-FFF2-40B4-BE49-F238E27FC236}">
                <a16:creationId xmlns:a16="http://schemas.microsoft.com/office/drawing/2014/main" id="{2C1FE8DF-37FD-4074-8493-03A956D8DBD7}"/>
              </a:ext>
            </a:extLst>
          </p:cNvPr>
          <p:cNvSpPr>
            <a:spLocks noGrp="1"/>
          </p:cNvSpPr>
          <p:nvPr/>
        </p:nvSpPr>
        <p:spPr>
          <a:xfrm>
            <a:off x="4400550" y="4000500"/>
            <a:ext cx="3324225" cy="8382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800" b="0">
                <a:solidFill>
                  <a:srgbClr val="17283C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800" b="0">
                <a:solidFill>
                  <a:srgbClr val="17283C"/>
                </a:solidFill>
                <a:latin typeface="Bitstream Charter"/>
                <a:ea typeface="Bitstream Charter"/>
                <a:cs typeface="Bitstream Charter"/>
              </a:rPr>
              <a:t>Verificar registros y reportes.</a:t>
            </a:r>
          </a:p>
        </p:txBody>
      </p:sp>
      <p:sp>
        <p:nvSpPr>
          <p:cNvPr id="13" name="Rectángulo 12">
            <a:extLst>
              <a:ext uri="{FF2B5EF4-FFF2-40B4-BE49-F238E27FC236}">
                <a16:creationId xmlns:a16="http://schemas.microsoft.com/office/drawing/2014/main" id="{6C4390E7-C5B6-4ECD-B709-866A3871B9D8}"/>
              </a:ext>
            </a:extLst>
          </p:cNvPr>
          <p:cNvSpPr>
            <a:spLocks noGrp="1"/>
          </p:cNvSpPr>
          <p:nvPr/>
        </p:nvSpPr>
        <p:spPr>
          <a:xfrm>
            <a:off x="4400550" y="4857750"/>
            <a:ext cx="3324225" cy="8382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800" b="0">
                <a:solidFill>
                  <a:srgbClr val="17283C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800" b="0">
                <a:solidFill>
                  <a:srgbClr val="17283C"/>
                </a:solidFill>
                <a:latin typeface="Bitstream Charter"/>
                <a:ea typeface="Bitstream Charter"/>
                <a:cs typeface="Bitstream Charter"/>
              </a:rPr>
              <a:t>Corregir errores de los servicios.</a:t>
            </a:r>
          </a:p>
        </p:txBody>
      </p:sp>
      <p:sp>
        <p:nvSpPr>
          <p:cNvPr id="14" name="Rectángulo 13">
            <a:extLst>
              <a:ext uri="{FF2B5EF4-FFF2-40B4-BE49-F238E27FC236}">
                <a16:creationId xmlns:a16="http://schemas.microsoft.com/office/drawing/2014/main" id="{BD3C176A-6775-45D5-80E0-1C580BCEAA8A}"/>
              </a:ext>
            </a:extLst>
          </p:cNvPr>
          <p:cNvSpPr>
            <a:spLocks noGrp="1"/>
          </p:cNvSpPr>
          <p:nvPr/>
        </p:nvSpPr>
        <p:spPr>
          <a:xfrm>
            <a:off x="8191500" y="2019300"/>
            <a:ext cx="3390900" cy="4572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550" b="1">
                <a:solidFill>
                  <a:srgbClr val="2A64A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550" b="1">
                <a:solidFill>
                  <a:srgbClr val="2A64AF"/>
                </a:solidFill>
                <a:latin typeface="Bitstream Charter"/>
                <a:ea typeface="Bitstream Charter"/>
                <a:cs typeface="Bitstream Charter"/>
              </a:rPr>
              <a:t>Julio</a:t>
            </a:r>
          </a:p>
        </p:txBody>
      </p:sp>
      <p:sp>
        <p:nvSpPr>
          <p:cNvPr id="15" name="Rectángulo 14">
            <a:extLst>
              <a:ext uri="{FF2B5EF4-FFF2-40B4-BE49-F238E27FC236}">
                <a16:creationId xmlns:a16="http://schemas.microsoft.com/office/drawing/2014/main" id="{16A99AE6-908B-4C1B-9572-15F1D48469EC}"/>
              </a:ext>
            </a:extLst>
          </p:cNvPr>
          <p:cNvSpPr>
            <a:spLocks noGrp="1"/>
          </p:cNvSpPr>
          <p:nvPr/>
        </p:nvSpPr>
        <p:spPr>
          <a:xfrm>
            <a:off x="8191500" y="2524125"/>
            <a:ext cx="3390900" cy="3143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575" b="0">
                <a:solidFill>
                  <a:srgbClr val="596677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575" b="0">
                <a:solidFill>
                  <a:srgbClr val="596677"/>
                </a:solidFill>
                <a:latin typeface="Bitstream Charter"/>
                <a:ea typeface="Bitstream Charter"/>
                <a:cs typeface="Bitstream Charter"/>
              </a:rPr>
              <a:t>Liderazgo, IoT y BD</a:t>
            </a:r>
          </a:p>
        </p:txBody>
      </p:sp>
      <p:sp>
        <p:nvSpPr>
          <p:cNvPr id="16" name="Rectángulo 15">
            <a:extLst>
              <a:ext uri="{FF2B5EF4-FFF2-40B4-BE49-F238E27FC236}">
                <a16:creationId xmlns:a16="http://schemas.microsoft.com/office/drawing/2014/main" id="{1DBC7216-8552-42D2-A25F-5CB3DF0C8D08}"/>
              </a:ext>
            </a:extLst>
          </p:cNvPr>
          <p:cNvSpPr>
            <a:spLocks noGrp="1"/>
          </p:cNvSpPr>
          <p:nvPr/>
        </p:nvSpPr>
        <p:spPr>
          <a:xfrm>
            <a:off x="8191500" y="3143250"/>
            <a:ext cx="3324225" cy="8382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800" b="0">
                <a:solidFill>
                  <a:srgbClr val="17283C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800" b="0">
                <a:solidFill>
                  <a:srgbClr val="17283C"/>
                </a:solidFill>
                <a:latin typeface="Bitstream Charter"/>
                <a:ea typeface="Bitstream Charter"/>
                <a:cs typeface="Bitstream Charter"/>
              </a:rPr>
              <a:t>Coordinar las pruebas completas.</a:t>
            </a:r>
          </a:p>
        </p:txBody>
      </p:sp>
      <p:sp>
        <p:nvSpPr>
          <p:cNvPr id="17" name="Rectángulo 16">
            <a:extLst>
              <a:ext uri="{FF2B5EF4-FFF2-40B4-BE49-F238E27FC236}">
                <a16:creationId xmlns:a16="http://schemas.microsoft.com/office/drawing/2014/main" id="{3C9DF1EF-8724-487B-8981-159CA3586D62}"/>
              </a:ext>
            </a:extLst>
          </p:cNvPr>
          <p:cNvSpPr>
            <a:spLocks noGrp="1"/>
          </p:cNvSpPr>
          <p:nvPr/>
        </p:nvSpPr>
        <p:spPr>
          <a:xfrm>
            <a:off x="8191500" y="4000500"/>
            <a:ext cx="3324225" cy="8382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800" b="0">
                <a:solidFill>
                  <a:srgbClr val="17283C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800" b="0">
                <a:solidFill>
                  <a:srgbClr val="17283C"/>
                </a:solidFill>
                <a:latin typeface="Bitstream Charter"/>
                <a:ea typeface="Bitstream Charter"/>
                <a:cs typeface="Bitstream Charter"/>
              </a:rPr>
              <a:t>Verificar accesos y fallas de conexión en el terminal.</a:t>
            </a:r>
          </a:p>
        </p:txBody>
      </p:sp>
      <p:sp>
        <p:nvSpPr>
          <p:cNvPr id="18" name="Rectángulo 17">
            <a:extLst>
              <a:ext uri="{FF2B5EF4-FFF2-40B4-BE49-F238E27FC236}">
                <a16:creationId xmlns:a16="http://schemas.microsoft.com/office/drawing/2014/main" id="{25310509-1843-40D4-86E6-2A904A763CFF}"/>
              </a:ext>
            </a:extLst>
          </p:cNvPr>
          <p:cNvSpPr>
            <a:spLocks noGrp="1"/>
          </p:cNvSpPr>
          <p:nvPr/>
        </p:nvSpPr>
        <p:spPr>
          <a:xfrm>
            <a:off x="8191500" y="4857750"/>
            <a:ext cx="3324225" cy="8382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800" b="0">
                <a:solidFill>
                  <a:srgbClr val="17283C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800" b="0">
                <a:solidFill>
                  <a:srgbClr val="17283C"/>
                </a:solidFill>
                <a:latin typeface="Bitstream Charter"/>
                <a:ea typeface="Bitstream Charter"/>
                <a:cs typeface="Bitstream Charter"/>
              </a:rPr>
              <a:t>Consolidar la documentación.</a:t>
            </a:r>
          </a:p>
        </p:txBody>
      </p:sp>
      <p:sp>
        <p:nvSpPr>
          <p:cNvPr id="19" name="Rectángulo 18">
            <a:extLst>
              <a:ext uri="{FF2B5EF4-FFF2-40B4-BE49-F238E27FC236}">
                <a16:creationId xmlns:a16="http://schemas.microsoft.com/office/drawing/2014/main" id="{A03B1015-57AC-4360-B3FF-9458BF1569DA}"/>
              </a:ext>
            </a:extLst>
          </p:cNvPr>
          <p:cNvSpPr>
            <a:spLocks noGrp="1"/>
          </p:cNvSpPr>
          <p:nvPr/>
        </p:nvSpPr>
        <p:spPr>
          <a:xfrm>
            <a:off x="609600" y="5648325"/>
            <a:ext cx="10001250" cy="2667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425" b="1">
                <a:solidFill>
                  <a:srgbClr val="087F80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425" b="1">
                <a:solidFill>
                  <a:srgbClr val="087F80"/>
                </a:solidFill>
                <a:latin typeface="Bitstream Charter"/>
                <a:ea typeface="Bitstream Charter"/>
                <a:cs typeface="Bitstream Charter"/>
              </a:rPr>
              <a:t>RESULTADO DE LA CLASE</a:t>
            </a:r>
          </a:p>
        </p:txBody>
      </p:sp>
      <p:sp>
        <p:nvSpPr>
          <p:cNvPr id="20" name="Rectángulo 19">
            <a:extLst>
              <a:ext uri="{FF2B5EF4-FFF2-40B4-BE49-F238E27FC236}">
                <a16:creationId xmlns:a16="http://schemas.microsoft.com/office/drawing/2014/main" id="{4995E73D-33E0-4A61-B8B6-3B68F1EE71F4}"/>
              </a:ext>
            </a:extLst>
          </p:cNvPr>
          <p:cNvSpPr>
            <a:spLocks noGrp="1"/>
          </p:cNvSpPr>
          <p:nvPr/>
        </p:nvSpPr>
        <p:spPr>
          <a:xfrm>
            <a:off x="609600" y="6038850"/>
            <a:ext cx="10915650" cy="5810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875" b="1">
                <a:solidFill>
                  <a:srgbClr val="17283C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875" b="1">
                <a:solidFill>
                  <a:srgbClr val="17283C"/>
                </a:solidFill>
                <a:latin typeface="Bitstream Charter"/>
                <a:ea typeface="Bitstream Charter"/>
                <a:cs typeface="Bitstream Charter"/>
              </a:rPr>
              <a:t>Demostración completa, registro de pruebas y mejoras pendientes.</a:t>
            </a:r>
          </a:p>
        </p:txBody>
      </p:sp>
    </p:spTree>
    <p:extLst>
      <p:ext uri="{BB962C8B-B14F-4D97-AF65-F5344CB8AC3E}">
        <p14:creationId xmlns:p14="http://schemas.microsoft.com/office/powerpoint/2010/main" val="518343951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491</Words>
  <Application>Microsoft Office PowerPoint</Application>
  <DocSecurity>0</DocSecurity>
  <PresentationFormat>Panorámica</PresentationFormat>
  <Paragraphs>95</Paragraphs>
  <Slides>5</Slides>
  <Notes>5</Notes>
  <HiddenSlides>0</HiddenSlides>
  <MMClips>0</MMClips>
  <ScaleCrop>false</ScaleCrop>
  <HeadingPairs>
    <vt:vector size="6" baseType="variant">
      <vt:variant>
        <vt:lpstr>Fuentes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5</vt:i4>
      </vt:variant>
    </vt:vector>
  </HeadingPairs>
  <TitlesOfParts>
    <vt:vector size="8" baseType="lpstr">
      <vt:lpstr>Aptos</vt:lpstr>
      <vt:lpstr>Bitstream Charter</vt:lpstr>
      <vt:lpstr>ChatGPT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JULIO ROBERTO BERNAL AREVALO</cp:lastModifiedBy>
  <cp:revision>1</cp:revision>
  <dcterms:created xsi:type="dcterms:W3CDTF">2026-09-30T22:58:03Z</dcterms:created>
  <dcterms:modified xsi:type="dcterms:W3CDTF">2026-09-30T22:59:38Z</dcterms:modified>
</cp:coreProperties>
</file>